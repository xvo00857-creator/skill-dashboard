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A1A2E"/>
                </a:solidFill>
                <a:latin typeface="Arial"/>
                <a:ea typeface="Noto Sans CJK SC"/>
              </a:rPr>
              <a:t>季度营收趋势（单位：百万元）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营收（百万元）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Q3'25</c:v>
                </c:pt>
                <c:pt idx="1">
                  <c:v>Q4'25</c:v>
                </c:pt>
                <c:pt idx="2">
                  <c:v>Q1'26</c:v>
                </c:pt>
                <c:pt idx="3">
                  <c:v>Q2'26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</c:v>
                </c:pt>
                <c:pt idx="1">
                  <c:v>95</c:v>
                </c:pt>
                <c:pt idx="2">
                  <c:v>108</c:v>
                </c:pt>
                <c:pt idx="3">
                  <c:v>139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1A1A2E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4A4A6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4A4A6A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05695" y="548640"/>
            <a:ext cx="1645920" cy="5486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20095" y="777240"/>
            <a:ext cx="731520" cy="54864"/>
          </a:xfrm>
          <a:prstGeom prst="rect">
            <a:avLst/>
          </a:prstGeom>
          <a:solidFill>
            <a:srgbClr val="C4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400" b="0">
                <a:solidFill>
                  <a:srgbClr val="90A4AE"/>
                </a:solidFill>
                <a:latin typeface="Arial"/>
                <a:ea typeface="Noto Sans CJK SC"/>
              </a:rPr>
              <a:t>2026 第二季度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4800" b="1">
                <a:solidFill>
                  <a:srgbClr val="FFFFFF"/>
                </a:solidFill>
                <a:latin typeface="Arial"/>
                <a:ea typeface="Noto Sans CJK SC"/>
              </a:rPr>
              <a:t>季度复盘报告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B0BEC5"/>
                </a:solidFill>
                <a:latin typeface="Arial"/>
                <a:ea typeface="Noto Sans CJK SC"/>
              </a:rPr>
              <a:t>目标回顾 · 数据表现 · 问题洞察 · 应对举措 · 下季规划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78909C"/>
                </a:solidFill>
                <a:latin typeface="Arial"/>
                <a:ea typeface="Noto Sans CJK SC"/>
              </a:rPr>
              <a:t>汇报人：产品团队　|　汇报日期：2026 年 7 月　|　密级：内部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35508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07D8B"/>
                </a:solidFill>
                <a:latin typeface="Arial"/>
                <a:ea typeface="Noto Sans CJK SC"/>
              </a:rPr>
              <a:t>注：本演示数据为示例性占位，使用前请替换为实际业务数据。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D47A1"/>
                </a:solidFill>
                <a:latin typeface="Arial"/>
                <a:ea typeface="Noto Sans CJK SC"/>
              </a:rPr>
              <a:t>01 · 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9441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A1A2E"/>
                </a:solidFill>
                <a:latin typeface="Arial"/>
                <a:ea typeface="Noto Sans CJK SC"/>
              </a:rPr>
              <a:t>季度核心目标回顾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9050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4A4A6A"/>
                </a:solidFill>
                <a:latin typeface="Arial"/>
                <a:ea typeface="Noto Sans CJK SC"/>
              </a:rPr>
              <a:t>2026 Q2 季度复盘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4A4A6A"/>
                </a:solidFill>
                <a:latin typeface="Arial"/>
                <a:ea typeface="Noto Sans CJK SC"/>
              </a:rPr>
              <a:t>2 / 8</a:t>
            </a:r>
          </a:p>
        </p:txBody>
      </p:sp>
      <p:sp descr="目标卡片：用户增长，状态：未完全达成">
        <p:nvSpPr>
          <p:cNvPr id="7" name="Rectangle 6"/>
          <p:cNvSpPr/>
          <p:nvPr/>
        </p:nvSpPr>
        <p:spPr>
          <a:xfrm>
            <a:off x="548640" y="1645920"/>
            <a:ext cx="3515258" cy="3474720"/>
          </a:xfrm>
          <a:prstGeom prst="rect">
            <a:avLst/>
          </a:prstGeom>
          <a:solidFill>
            <a:srgbClr val="F0F2F5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73152" cy="3474720"/>
          </a:xfrm>
          <a:prstGeom prst="rect">
            <a:avLst/>
          </a:prstGeom>
          <a:solidFill>
            <a:srgbClr val="C4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83080"/>
            <a:ext cx="314949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>
                <a:solidFill>
                  <a:srgbClr val="1A1A2E"/>
                </a:solidFill>
                <a:latin typeface="Arial"/>
                <a:ea typeface="Noto Sans CJK SC"/>
              </a:rPr>
              <a:t>用户增长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40280"/>
            <a:ext cx="3149498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700" b="0">
                <a:solidFill>
                  <a:srgbClr val="4A4A6A"/>
                </a:solidFill>
                <a:latin typeface="Arial"/>
                <a:ea typeface="Noto Sans CJK SC"/>
              </a:rPr>
              <a:t>目标：1,200 万 MAU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700" b="1">
                <a:solidFill>
                  <a:srgbClr val="C44000"/>
                </a:solidFill>
                <a:latin typeface="Arial"/>
                <a:ea typeface="Noto Sans CJK SC"/>
              </a:rPr>
              <a:t>实际：1,150 万 MAU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700" b="0">
                <a:solidFill>
                  <a:srgbClr val="4A4A6A"/>
                </a:solidFill>
                <a:latin typeface="Arial"/>
                <a:ea typeface="Noto Sans CJK SC"/>
              </a:rPr>
              <a:t>完成率：95.8%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800" b="0">
                <a:solidFill>
                  <a:srgbClr val="4A4A6A"/>
                </a:solidFill>
                <a:latin typeface="Arial"/>
                <a:ea typeface="Noto Sans CJK SC"/>
              </a:rPr>
              <a:t/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500" b="0">
                <a:solidFill>
                  <a:srgbClr val="4A4A6A"/>
                </a:solidFill>
                <a:latin typeface="Arial"/>
                <a:ea typeface="Noto Sans CJK SC"/>
              </a:rPr>
              <a:t>差距：新用户获取成本上升，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500" b="0">
                <a:solidFill>
                  <a:srgbClr val="4A4A6A"/>
                </a:solidFill>
                <a:latin typeface="Arial"/>
                <a:ea typeface="Noto Sans CJK SC"/>
              </a:rPr>
              <a:t>自然增长渠道效率下降。</a:t>
            </a:r>
          </a:p>
        </p:txBody>
      </p:sp>
      <p:sp descr="状态：未完全达成">
        <p:nvSpPr>
          <p:cNvPr id="11" name="Rectangle 10"/>
          <p:cNvSpPr/>
          <p:nvPr/>
        </p:nvSpPr>
        <p:spPr>
          <a:xfrm>
            <a:off x="548640" y="5257800"/>
            <a:ext cx="3515258" cy="365760"/>
          </a:xfrm>
          <a:prstGeom prst="rect">
            <a:avLst/>
          </a:prstGeom>
          <a:solidFill>
            <a:srgbClr val="C4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257800"/>
            <a:ext cx="351525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Noto Sans CJK SC"/>
              </a:rPr>
              <a:t>未完全达成</a:t>
            </a:r>
          </a:p>
        </p:txBody>
      </p:sp>
      <p:sp descr="目标卡片：营收提升，状态：超额达成">
        <p:nvSpPr>
          <p:cNvPr id="13" name="Rectangle 12"/>
          <p:cNvSpPr/>
          <p:nvPr/>
        </p:nvSpPr>
        <p:spPr>
          <a:xfrm>
            <a:off x="4338218" y="1645920"/>
            <a:ext cx="3515258" cy="3474720"/>
          </a:xfrm>
          <a:prstGeom prst="rect">
            <a:avLst/>
          </a:prstGeom>
          <a:solidFill>
            <a:srgbClr val="F0F2F5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8218" y="1645920"/>
            <a:ext cx="73152" cy="34747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6818" y="1783080"/>
            <a:ext cx="314949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>
                <a:solidFill>
                  <a:srgbClr val="1A1A2E"/>
                </a:solidFill>
                <a:latin typeface="Arial"/>
                <a:ea typeface="Noto Sans CJK SC"/>
              </a:rPr>
              <a:t>营收提升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6818" y="2240280"/>
            <a:ext cx="3149498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700" b="0">
                <a:solidFill>
                  <a:srgbClr val="4A4A6A"/>
                </a:solidFill>
                <a:latin typeface="Arial"/>
                <a:ea typeface="Noto Sans CJK SC"/>
              </a:rPr>
              <a:t>目标：同比增长 25%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700" b="1">
                <a:solidFill>
                  <a:srgbClr val="1B5E20"/>
                </a:solidFill>
                <a:latin typeface="Arial"/>
                <a:ea typeface="Noto Sans CJK SC"/>
              </a:rPr>
              <a:t>实际：同比增长 28.3%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700" b="0">
                <a:solidFill>
                  <a:srgbClr val="4A4A6A"/>
                </a:solidFill>
                <a:latin typeface="Arial"/>
                <a:ea typeface="Noto Sans CJK SC"/>
              </a:rPr>
              <a:t>完成率：113.2%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800" b="0">
                <a:solidFill>
                  <a:srgbClr val="4A4A6A"/>
                </a:solidFill>
                <a:latin typeface="Arial"/>
                <a:ea typeface="Noto Sans CJK SC"/>
              </a:rPr>
              <a:t/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500" b="0">
                <a:solidFill>
                  <a:srgbClr val="4A4A6A"/>
                </a:solidFill>
                <a:latin typeface="Arial"/>
                <a:ea typeface="Noto Sans CJK SC"/>
              </a:rPr>
              <a:t>亮点：企业版客户续约率 92%，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500" b="0">
                <a:solidFill>
                  <a:srgbClr val="4A4A6A"/>
                </a:solidFill>
                <a:latin typeface="Arial"/>
                <a:ea typeface="Noto Sans CJK SC"/>
              </a:rPr>
              <a:t>增值服务收入超预期。</a:t>
            </a:r>
          </a:p>
        </p:txBody>
      </p:sp>
      <p:sp descr="状态：超额达成">
        <p:nvSpPr>
          <p:cNvPr id="17" name="Rectangle 16"/>
          <p:cNvSpPr/>
          <p:nvPr/>
        </p:nvSpPr>
        <p:spPr>
          <a:xfrm>
            <a:off x="4338218" y="5257800"/>
            <a:ext cx="3515258" cy="3657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38218" y="5257800"/>
            <a:ext cx="351525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Noto Sans CJK SC"/>
              </a:rPr>
              <a:t>超额达成</a:t>
            </a:r>
          </a:p>
        </p:txBody>
      </p:sp>
      <p:sp descr="目标卡片：产品迭代，状态：部分延期">
        <p:nvSpPr>
          <p:cNvPr id="19" name="Rectangle 18"/>
          <p:cNvSpPr/>
          <p:nvPr/>
        </p:nvSpPr>
        <p:spPr>
          <a:xfrm>
            <a:off x="8127796" y="1645920"/>
            <a:ext cx="3515258" cy="3474720"/>
          </a:xfrm>
          <a:prstGeom prst="rect">
            <a:avLst/>
          </a:prstGeom>
          <a:solidFill>
            <a:srgbClr val="F0F2F5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27796" y="1645920"/>
            <a:ext cx="73152" cy="3474720"/>
          </a:xfrm>
          <a:prstGeom prst="rect">
            <a:avLst/>
          </a:prstGeom>
          <a:solidFill>
            <a:srgbClr val="C4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56396" y="1783080"/>
            <a:ext cx="314949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>
                <a:solidFill>
                  <a:srgbClr val="1A1A2E"/>
                </a:solidFill>
                <a:latin typeface="Arial"/>
                <a:ea typeface="Noto Sans CJK SC"/>
              </a:rPr>
              <a:t>产品迭代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6396" y="2240280"/>
            <a:ext cx="3149498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700" b="0">
                <a:solidFill>
                  <a:srgbClr val="4A4A6A"/>
                </a:solidFill>
                <a:latin typeface="Arial"/>
                <a:ea typeface="Noto Sans CJK SC"/>
              </a:rPr>
              <a:t>目标：上线 3 项核心功能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700" b="1">
                <a:solidFill>
                  <a:srgbClr val="C44000"/>
                </a:solidFill>
                <a:latin typeface="Arial"/>
                <a:ea typeface="Noto Sans CJK SC"/>
              </a:rPr>
              <a:t>实际：上线 2 项，1 项延期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700" b="0">
                <a:solidFill>
                  <a:srgbClr val="4A4A6A"/>
                </a:solidFill>
                <a:latin typeface="Arial"/>
                <a:ea typeface="Noto Sans CJK SC"/>
              </a:rPr>
              <a:t>完成率：66.7%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800" b="0">
                <a:solidFill>
                  <a:srgbClr val="4A4A6A"/>
                </a:solidFill>
                <a:latin typeface="Arial"/>
                <a:ea typeface="Noto Sans CJK SC"/>
              </a:rPr>
              <a:t/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500" b="0">
                <a:solidFill>
                  <a:srgbClr val="4A4A6A"/>
                </a:solidFill>
                <a:latin typeface="Arial"/>
                <a:ea typeface="Noto Sans CJK SC"/>
              </a:rPr>
              <a:t>延期原因：技术方案变更，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500" b="0">
                <a:solidFill>
                  <a:srgbClr val="4A4A6A"/>
                </a:solidFill>
                <a:latin typeface="Arial"/>
                <a:ea typeface="Noto Sans CJK SC"/>
              </a:rPr>
              <a:t>需额外 2 周开发与测试。</a:t>
            </a:r>
          </a:p>
        </p:txBody>
      </p:sp>
      <p:sp descr="状态：部分延期">
        <p:nvSpPr>
          <p:cNvPr id="23" name="Rectangle 22"/>
          <p:cNvSpPr/>
          <p:nvPr/>
        </p:nvSpPr>
        <p:spPr>
          <a:xfrm>
            <a:off x="8127796" y="5257800"/>
            <a:ext cx="3515258" cy="365760"/>
          </a:xfrm>
          <a:prstGeom prst="rect">
            <a:avLst/>
          </a:prstGeom>
          <a:solidFill>
            <a:srgbClr val="C4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27796" y="5257800"/>
            <a:ext cx="351525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Noto Sans CJK SC"/>
              </a:rPr>
              <a:t>部分延期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A1A2E"/>
                </a:solidFill>
                <a:latin typeface="Arial"/>
                <a:ea typeface="Noto Sans CJK SC"/>
              </a:rPr>
              <a:t>小结：营收目标超额达成，用户增长接近目标，产品迭代存在延期。整体目标完成率约 92%。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D47A1"/>
                </a:solidFill>
                <a:latin typeface="Arial"/>
                <a:ea typeface="Noto Sans CJK SC"/>
              </a:rPr>
              <a:t>02 · 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9441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A1A2E"/>
                </a:solidFill>
                <a:latin typeface="Arial"/>
                <a:ea typeface="Noto Sans CJK SC"/>
              </a:rPr>
              <a:t>关键数据表现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9050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4A4A6A"/>
                </a:solidFill>
                <a:latin typeface="Arial"/>
                <a:ea typeface="Noto Sans CJK SC"/>
              </a:rPr>
              <a:t>2026 Q2 季度复盘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4A4A6A"/>
                </a:solidFill>
                <a:latin typeface="Arial"/>
                <a:ea typeface="Noto Sans CJK SC"/>
              </a:rPr>
              <a:t>3 / 8</a:t>
            </a:r>
          </a:p>
        </p:txBody>
      </p:sp>
      <p:graphicFrame descr="柱状图：2025年Q3至2026年Q2季度营收，分别为82、95、108、139百万元，呈持续增长趋势"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554480"/>
          <a:ext cx="658368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 descr="KPI指标：MAU 1,150 万，环比 +6.5%">
        <p:nvSpPr>
          <p:cNvPr id="8" name="Rectangle 7"/>
          <p:cNvSpPr/>
          <p:nvPr/>
        </p:nvSpPr>
        <p:spPr>
          <a:xfrm>
            <a:off x="7406640" y="1554480"/>
            <a:ext cx="4236415" cy="1143000"/>
          </a:xfrm>
          <a:prstGeom prst="rect">
            <a:avLst/>
          </a:prstGeom>
          <a:solidFill>
            <a:srgbClr val="F0F2F5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06640" y="1554480"/>
            <a:ext cx="73152" cy="1143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1645920"/>
            <a:ext cx="39620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4A4A6A"/>
                </a:solidFill>
                <a:latin typeface="Arial"/>
                <a:ea typeface="Noto Sans CJK SC"/>
              </a:rPr>
              <a:t>MAU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1901952"/>
            <a:ext cx="39620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A1A2E"/>
                </a:solidFill>
                <a:latin typeface="Arial"/>
                <a:ea typeface="Noto Sans CJK SC"/>
              </a:rPr>
              <a:t>1,150 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359152"/>
            <a:ext cx="39620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D47A1"/>
                </a:solidFill>
                <a:latin typeface="Arial"/>
                <a:ea typeface="Noto Sans CJK SC"/>
              </a:rPr>
              <a:t>环比 +6.5%</a:t>
            </a:r>
          </a:p>
        </p:txBody>
      </p:sp>
      <p:sp descr="KPI指标：营收同比 +28.3%，超目标 +3.3pp">
        <p:nvSpPr>
          <p:cNvPr id="13" name="Rectangle 12"/>
          <p:cNvSpPr/>
          <p:nvPr/>
        </p:nvSpPr>
        <p:spPr>
          <a:xfrm>
            <a:off x="7406640" y="2834640"/>
            <a:ext cx="4236415" cy="1143000"/>
          </a:xfrm>
          <a:prstGeom prst="rect">
            <a:avLst/>
          </a:prstGeom>
          <a:solidFill>
            <a:srgbClr val="F0F2F5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834640"/>
            <a:ext cx="73152" cy="1143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2926080"/>
            <a:ext cx="39620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4A4A6A"/>
                </a:solidFill>
                <a:latin typeface="Arial"/>
                <a:ea typeface="Noto Sans CJK SC"/>
              </a:rPr>
              <a:t>营收同比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3182112"/>
            <a:ext cx="39620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A1A2E"/>
                </a:solidFill>
                <a:latin typeface="Arial"/>
                <a:ea typeface="Noto Sans CJK SC"/>
              </a:rPr>
              <a:t>+28.3%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3639312"/>
            <a:ext cx="39620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1B5E20"/>
                </a:solidFill>
                <a:latin typeface="Arial"/>
                <a:ea typeface="Noto Sans CJK SC"/>
              </a:rPr>
              <a:t>超目标 +3.3pp</a:t>
            </a:r>
          </a:p>
        </p:txBody>
      </p:sp>
      <p:sp descr="KPI指标：获客成本 ¥48/人，环比 +12.0% ⚠">
        <p:nvSpPr>
          <p:cNvPr id="18" name="Rectangle 17"/>
          <p:cNvSpPr/>
          <p:nvPr/>
        </p:nvSpPr>
        <p:spPr>
          <a:xfrm>
            <a:off x="7406640" y="4114800"/>
            <a:ext cx="4236415" cy="1143000"/>
          </a:xfrm>
          <a:prstGeom prst="rect">
            <a:avLst/>
          </a:prstGeom>
          <a:solidFill>
            <a:srgbClr val="F0F2F5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06640" y="4114800"/>
            <a:ext cx="73152" cy="1143000"/>
          </a:xfrm>
          <a:prstGeom prst="rect">
            <a:avLst/>
          </a:prstGeom>
          <a:solidFill>
            <a:srgbClr val="C4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4206240"/>
            <a:ext cx="39620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4A4A6A"/>
                </a:solidFill>
                <a:latin typeface="Arial"/>
                <a:ea typeface="Noto Sans CJK SC"/>
              </a:rPr>
              <a:t>获客成本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4462272"/>
            <a:ext cx="39620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A1A2E"/>
                </a:solidFill>
                <a:latin typeface="Arial"/>
                <a:ea typeface="Noto Sans CJK SC"/>
              </a:rPr>
              <a:t>¥48/人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4919472"/>
            <a:ext cx="39620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C44000"/>
                </a:solidFill>
                <a:latin typeface="Arial"/>
                <a:ea typeface="Noto Sans CJK SC"/>
              </a:rPr>
              <a:t>环比 +12.0% ⚠</a:t>
            </a:r>
          </a:p>
        </p:txBody>
      </p:sp>
      <p:sp descr="数据洞察">
        <p:nvSpPr>
          <p:cNvPr id="23" name="Rectangle 22"/>
          <p:cNvSpPr/>
          <p:nvPr/>
        </p:nvSpPr>
        <p:spPr>
          <a:xfrm>
            <a:off x="548640" y="5577840"/>
            <a:ext cx="11094415" cy="640080"/>
          </a:xfrm>
          <a:prstGeom prst="rect">
            <a:avLst/>
          </a:prstGeom>
          <a:solidFill>
            <a:srgbClr val="E8F5E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669280"/>
            <a:ext cx="1072865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A1A2E"/>
                </a:solidFill>
                <a:latin typeface="Arial"/>
                <a:ea typeface="Noto Sans CJK SC"/>
              </a:rPr>
              <a:t>数据洞察：营收增长主要由企业版续约和增值服务驱动；获客成本上升是本季度最需关注的效率指标。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D47A1"/>
                </a:solidFill>
                <a:latin typeface="Arial"/>
                <a:ea typeface="Noto Sans CJK SC"/>
              </a:rPr>
              <a:t>03 · 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9441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A1A2E"/>
                </a:solidFill>
                <a:latin typeface="Arial"/>
                <a:ea typeface="Noto Sans CJK SC"/>
              </a:rPr>
              <a:t>主要问题与挑战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9050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4A4A6A"/>
                </a:solidFill>
                <a:latin typeface="Arial"/>
                <a:ea typeface="Noto Sans CJK SC"/>
              </a:rPr>
              <a:t>2026 Q2 季度复盘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4A4A6A"/>
                </a:solidFill>
                <a:latin typeface="Arial"/>
                <a:ea typeface="Noto Sans CJK SC"/>
              </a:rPr>
              <a:t>4 / 8</a:t>
            </a:r>
          </a:p>
        </p:txBody>
      </p:sp>
      <p:sp descr="问题：P1 · 获客成本上升，严重度：高影响 · 高紧急">
        <p:nvSpPr>
          <p:cNvPr id="7" name="Rectangle 6"/>
          <p:cNvSpPr/>
          <p:nvPr/>
        </p:nvSpPr>
        <p:spPr>
          <a:xfrm>
            <a:off x="548640" y="1554480"/>
            <a:ext cx="5410047" cy="1417320"/>
          </a:xfrm>
          <a:prstGeom prst="rect">
            <a:avLst/>
          </a:prstGeom>
          <a:solidFill>
            <a:srgbClr val="F0F2F5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73152" cy="1417320"/>
          </a:xfrm>
          <a:prstGeom prst="rect">
            <a:avLst/>
          </a:prstGeom>
          <a:solidFill>
            <a:srgbClr val="C4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27632"/>
            <a:ext cx="513572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1A1A2E"/>
                </a:solidFill>
                <a:latin typeface="Arial"/>
                <a:ea typeface="Noto Sans CJK SC"/>
              </a:rPr>
              <a:t>P1 · 获客成本上升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38528"/>
            <a:ext cx="5135727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0">
                <a:solidFill>
                  <a:srgbClr val="1A1A2E"/>
                </a:solidFill>
                <a:latin typeface="Arial"/>
                <a:ea typeface="Noto Sans CJK SC"/>
              </a:rPr>
              <a:t>现象：单用户获取成本从 ¥43 升至 ¥48，环比 +12%。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0">
                <a:solidFill>
                  <a:srgbClr val="4A4A6A"/>
                </a:solidFill>
                <a:latin typeface="Arial"/>
                <a:ea typeface="Noto Sans CJK SC"/>
              </a:rPr>
              <a:t>原因：主流投放渠道 CPC 上涨 18%，自然流量占比下降。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0">
                <a:solidFill>
                  <a:srgbClr val="C44000"/>
                </a:solidFill>
                <a:latin typeface="Arial"/>
                <a:ea typeface="Noto Sans CJK SC"/>
              </a:rPr>
              <a:t>影响：用户增长目标未达成，营销 ROI 下降。</a:t>
            </a:r>
          </a:p>
        </p:txBody>
      </p:sp>
      <p:sp descr="问题：P2 · 产品迭代延期，严重度：中影响 · 中紧急">
        <p:nvSpPr>
          <p:cNvPr id="11" name="Rectangle 10"/>
          <p:cNvSpPr/>
          <p:nvPr/>
        </p:nvSpPr>
        <p:spPr>
          <a:xfrm>
            <a:off x="548640" y="3108960"/>
            <a:ext cx="5410047" cy="1417320"/>
          </a:xfrm>
          <a:prstGeom prst="rect">
            <a:avLst/>
          </a:prstGeom>
          <a:solidFill>
            <a:srgbClr val="F0F2F5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108960"/>
            <a:ext cx="73152" cy="1417320"/>
          </a:xfrm>
          <a:prstGeom prst="rect">
            <a:avLst/>
          </a:prstGeom>
          <a:solidFill>
            <a:srgbClr val="C4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182112"/>
            <a:ext cx="513572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1A1A2E"/>
                </a:solidFill>
                <a:latin typeface="Arial"/>
                <a:ea typeface="Noto Sans CJK SC"/>
              </a:rPr>
              <a:t>P2 · 产品迭代延期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493008"/>
            <a:ext cx="5135727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0">
                <a:solidFill>
                  <a:srgbClr val="1A1A2E"/>
                </a:solidFill>
                <a:latin typeface="Arial"/>
                <a:ea typeface="Noto Sans CJK SC"/>
              </a:rPr>
              <a:t>现象：智能推荐功能上线延期 2 周。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0">
                <a:solidFill>
                  <a:srgbClr val="4A4A6A"/>
                </a:solidFill>
                <a:latin typeface="Arial"/>
                <a:ea typeface="Noto Sans CJK SC"/>
              </a:rPr>
              <a:t>原因：技术方案中途变更，测试资源不足。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0">
                <a:solidFill>
                  <a:srgbClr val="C44000"/>
                </a:solidFill>
                <a:latin typeface="Arial"/>
                <a:ea typeface="Noto Sans CJK SC"/>
              </a:rPr>
              <a:t>影响：依赖该功能的运营活动推迟，用户体验升级延后。</a:t>
            </a:r>
          </a:p>
        </p:txBody>
      </p:sp>
      <p:sp descr="问题：P3 · 客服响应慢，严重度：中影响 · 中紧急">
        <p:nvSpPr>
          <p:cNvPr id="15" name="Rectangle 14"/>
          <p:cNvSpPr/>
          <p:nvPr/>
        </p:nvSpPr>
        <p:spPr>
          <a:xfrm>
            <a:off x="548640" y="4663440"/>
            <a:ext cx="5410047" cy="1417320"/>
          </a:xfrm>
          <a:prstGeom prst="rect">
            <a:avLst/>
          </a:prstGeom>
          <a:solidFill>
            <a:srgbClr val="F0F2F5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663440"/>
            <a:ext cx="73152" cy="14173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736592"/>
            <a:ext cx="513572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1A1A2E"/>
                </a:solidFill>
                <a:latin typeface="Arial"/>
                <a:ea typeface="Noto Sans CJK SC"/>
              </a:rPr>
              <a:t>P3 · 客服响应慢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047488"/>
            <a:ext cx="5135727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0">
                <a:solidFill>
                  <a:srgbClr val="1A1A2E"/>
                </a:solidFill>
                <a:latin typeface="Arial"/>
                <a:ea typeface="Noto Sans CJK SC"/>
              </a:rPr>
              <a:t>现象：工单平均响应时间从 4h 升至 6.5h。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0">
                <a:solidFill>
                  <a:srgbClr val="4A4A6A"/>
                </a:solidFill>
                <a:latin typeface="Arial"/>
                <a:ea typeface="Noto Sans CJK SC"/>
              </a:rPr>
              <a:t>原因：客服团队人员缺口 2 人，AI 辅助工具未上线。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0">
                <a:solidFill>
                  <a:srgbClr val="0D47A1"/>
                </a:solidFill>
                <a:latin typeface="Arial"/>
                <a:ea typeface="Noto Sans CJK SC"/>
              </a:rPr>
              <a:t>影响：客户满意度从 4.5 降至 4.2，存在流失风险。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3007" y="1554480"/>
            <a:ext cx="541004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A1A2E"/>
                </a:solidFill>
                <a:latin typeface="Arial"/>
                <a:ea typeface="Noto Sans CJK SC"/>
              </a:rPr>
              <a:t>问题优先级矩阵（影响 × 紧急度）</a:t>
            </a:r>
          </a:p>
        </p:txBody>
      </p:sp>
      <p:sp descr="象限：高影响 · 低紧急，包含问题：P3 客服响应">
        <p:nvSpPr>
          <p:cNvPr id="20" name="Rectangle 19"/>
          <p:cNvSpPr/>
          <p:nvPr/>
        </p:nvSpPr>
        <p:spPr>
          <a:xfrm>
            <a:off x="6233007" y="1965960"/>
            <a:ext cx="2659303" cy="1668780"/>
          </a:xfrm>
          <a:prstGeom prst="rect">
            <a:avLst/>
          </a:prstGeom>
          <a:solidFill>
            <a:srgbClr val="FFF3E0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4447" y="2039112"/>
            <a:ext cx="2476423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4A4A6A"/>
                </a:solidFill>
                <a:latin typeface="Arial"/>
                <a:ea typeface="Noto Sans CJK SC"/>
              </a:rPr>
              <a:t>高影响 · 低紧急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4447" y="2331720"/>
            <a:ext cx="2476423" cy="12115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1A1A2E"/>
                </a:solidFill>
                <a:latin typeface="Arial"/>
                <a:ea typeface="Noto Sans CJK SC"/>
              </a:rPr>
              <a:t>P3 客服响应</a:t>
            </a:r>
          </a:p>
        </p:txBody>
      </p:sp>
      <p:sp descr="象限：高影响 · 高紧急，包含问题：P1 获客成本">
        <p:nvSpPr>
          <p:cNvPr id="23" name="Rectangle 22"/>
          <p:cNvSpPr/>
          <p:nvPr/>
        </p:nvSpPr>
        <p:spPr>
          <a:xfrm>
            <a:off x="8938031" y="1965960"/>
            <a:ext cx="2659303" cy="1668780"/>
          </a:xfrm>
          <a:prstGeom prst="rect">
            <a:avLst/>
          </a:prstGeom>
          <a:solidFill>
            <a:srgbClr val="FFEBEE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29471" y="2039112"/>
            <a:ext cx="2476423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4A4A6A"/>
                </a:solidFill>
                <a:latin typeface="Arial"/>
                <a:ea typeface="Noto Sans CJK SC"/>
              </a:rPr>
              <a:t>高影响 · 高紧急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9471" y="2331720"/>
            <a:ext cx="2476423" cy="12115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1A1A2E"/>
                </a:solidFill>
                <a:latin typeface="Arial"/>
                <a:ea typeface="Noto Sans CJK SC"/>
              </a:rPr>
              <a:t>P1 获客成本</a:t>
            </a:r>
          </a:p>
        </p:txBody>
      </p:sp>
      <p:sp descr="象限：低影响 · 低紧急，包含问题：—">
        <p:nvSpPr>
          <p:cNvPr id="26" name="Rectangle 25"/>
          <p:cNvSpPr/>
          <p:nvPr/>
        </p:nvSpPr>
        <p:spPr>
          <a:xfrm>
            <a:off x="6233007" y="3680460"/>
            <a:ext cx="2659303" cy="1668780"/>
          </a:xfrm>
          <a:prstGeom prst="rect">
            <a:avLst/>
          </a:prstGeom>
          <a:solidFill>
            <a:srgbClr val="F0F2F5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4447" y="3753612"/>
            <a:ext cx="2476423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4A4A6A"/>
                </a:solidFill>
                <a:latin typeface="Arial"/>
                <a:ea typeface="Noto Sans CJK SC"/>
              </a:rPr>
              <a:t>低影响 · 低紧急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4447" y="4046220"/>
            <a:ext cx="2476423" cy="12115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1A1A2E"/>
                </a:solidFill>
                <a:latin typeface="Arial"/>
                <a:ea typeface="Noto Sans CJK SC"/>
              </a:rPr>
              <a:t>—</a:t>
            </a:r>
          </a:p>
        </p:txBody>
      </p:sp>
      <p:sp descr="象限：低影响 · 高紧急，包含问题：P2 迭代延期">
        <p:nvSpPr>
          <p:cNvPr id="29" name="Rectangle 28"/>
          <p:cNvSpPr/>
          <p:nvPr/>
        </p:nvSpPr>
        <p:spPr>
          <a:xfrm>
            <a:off x="8938031" y="3680460"/>
            <a:ext cx="2659303" cy="1668780"/>
          </a:xfrm>
          <a:prstGeom prst="rect">
            <a:avLst/>
          </a:prstGeom>
          <a:solidFill>
            <a:srgbClr val="E3F2FD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29471" y="3753612"/>
            <a:ext cx="2476423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4A4A6A"/>
                </a:solidFill>
                <a:latin typeface="Arial"/>
                <a:ea typeface="Noto Sans CJK SC"/>
              </a:rPr>
              <a:t>低影响 · 高紧急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29471" y="4046220"/>
            <a:ext cx="2476423" cy="12115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1A1A2E"/>
                </a:solidFill>
                <a:latin typeface="Arial"/>
                <a:ea typeface="Noto Sans CJK SC"/>
              </a:rPr>
              <a:t>P2 迭代延期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3007" y="5413248"/>
            <a:ext cx="5410047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4A4A6A"/>
                </a:solidFill>
                <a:latin typeface="Arial"/>
                <a:ea typeface="Noto Sans CJK SC"/>
              </a:rPr>
              <a:t>紧急度 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D47A1"/>
                </a:solidFill>
                <a:latin typeface="Arial"/>
                <a:ea typeface="Noto Sans CJK SC"/>
              </a:rPr>
              <a:t>04 · 举措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9441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A1A2E"/>
                </a:solidFill>
                <a:latin typeface="Arial"/>
                <a:ea typeface="Noto Sans CJK SC"/>
              </a:rPr>
              <a:t>应对举措与成效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9050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4A4A6A"/>
                </a:solidFill>
                <a:latin typeface="Arial"/>
                <a:ea typeface="Noto Sans CJK SC"/>
              </a:rPr>
              <a:t>2026 Q2 季度复盘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4A4A6A"/>
                </a:solidFill>
                <a:latin typeface="Arial"/>
                <a:ea typeface="Noto Sans CJK SC"/>
              </a:rPr>
              <a:t>5 / 8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057400"/>
            <a:ext cx="10545775" cy="38100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descr="时间线节点：优化投放渠道">
        <p:nvSpPr>
          <p:cNvPr id="8" name="Oval 7"/>
          <p:cNvSpPr/>
          <p:nvPr/>
        </p:nvSpPr>
        <p:spPr>
          <a:xfrm>
            <a:off x="2233117" y="1920240"/>
            <a:ext cx="329184" cy="329184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00429" y="169164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B5E20"/>
                </a:solidFill>
                <a:latin typeface="Arial"/>
                <a:ea typeface="Noto Sans CJK SC"/>
              </a:rPr>
              <a:t>举措一</a:t>
            </a:r>
          </a:p>
        </p:txBody>
      </p:sp>
      <p:sp descr="举措详情：优化投放渠道，状态：已完成">
        <p:nvSpPr>
          <p:cNvPr id="10" name="Rectangle 9"/>
          <p:cNvSpPr/>
          <p:nvPr/>
        </p:nvSpPr>
        <p:spPr>
          <a:xfrm>
            <a:off x="685800" y="2514600"/>
            <a:ext cx="3423818" cy="2926080"/>
          </a:xfrm>
          <a:prstGeom prst="rect">
            <a:avLst/>
          </a:prstGeom>
          <a:solidFill>
            <a:srgbClr val="F0F2F5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3423818" cy="7315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97480"/>
            <a:ext cx="305805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A1A2E"/>
                </a:solidFill>
                <a:latin typeface="Arial"/>
                <a:ea typeface="Noto Sans CJK SC"/>
              </a:rPr>
              <a:t>优化投放渠道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2338" y="269748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B5E20"/>
                </a:solidFill>
                <a:latin typeface="Arial"/>
                <a:ea typeface="Noto Sans CJK SC"/>
              </a:rPr>
              <a:t>已完成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108960"/>
            <a:ext cx="3058058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4A4A6A"/>
                </a:solidFill>
                <a:latin typeface="Arial"/>
                <a:ea typeface="Noto Sans CJK SC"/>
              </a:rPr>
              <a:t>• 暂停低效渠道，将预算向 ROI 最高的 3 个渠道集中。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4A4A6A"/>
                </a:solidFill>
                <a:latin typeface="Arial"/>
                <a:ea typeface="Noto Sans CJK SC"/>
              </a:rPr>
              <a:t>• 上线 A/B 测试框架，每周优化落地页。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4A4A6A"/>
                </a:solidFill>
                <a:latin typeface="Arial"/>
                <a:ea typeface="Noto Sans CJK SC"/>
              </a:rPr>
              <a:t>• 成效：CPC 下降 8%，优质线索占比提升 15%。</a:t>
            </a:r>
          </a:p>
        </p:txBody>
      </p:sp>
      <p:sp descr="时间线节点：加速产品交付">
        <p:nvSpPr>
          <p:cNvPr id="15" name="Oval 14"/>
          <p:cNvSpPr/>
          <p:nvPr/>
        </p:nvSpPr>
        <p:spPr>
          <a:xfrm>
            <a:off x="5931255" y="1920240"/>
            <a:ext cx="329184" cy="329184"/>
          </a:xfrm>
          <a:prstGeom prst="ellipse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98567" y="169164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0D47A1"/>
                </a:solidFill>
                <a:latin typeface="Arial"/>
                <a:ea typeface="Noto Sans CJK SC"/>
              </a:rPr>
              <a:t>举措二</a:t>
            </a:r>
          </a:p>
        </p:txBody>
      </p:sp>
      <p:sp descr="举措详情：加速产品交付，状态：进行中">
        <p:nvSpPr>
          <p:cNvPr id="17" name="Rectangle 16"/>
          <p:cNvSpPr/>
          <p:nvPr/>
        </p:nvSpPr>
        <p:spPr>
          <a:xfrm>
            <a:off x="4383938" y="2514600"/>
            <a:ext cx="3423818" cy="2926080"/>
          </a:xfrm>
          <a:prstGeom prst="rect">
            <a:avLst/>
          </a:prstGeom>
          <a:solidFill>
            <a:srgbClr val="F0F2F5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3938" y="2514600"/>
            <a:ext cx="3423818" cy="7315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66818" y="2697480"/>
            <a:ext cx="305805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A1A2E"/>
                </a:solidFill>
                <a:latin typeface="Arial"/>
                <a:ea typeface="Noto Sans CJK SC"/>
              </a:rPr>
              <a:t>加速产品交付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10476" y="269748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D47A1"/>
                </a:solidFill>
                <a:latin typeface="Arial"/>
                <a:ea typeface="Noto Sans CJK SC"/>
              </a:rPr>
              <a:t>进行中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6818" y="3108960"/>
            <a:ext cx="3058058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4A4A6A"/>
                </a:solidFill>
                <a:latin typeface="Arial"/>
                <a:ea typeface="Noto Sans CJK SC"/>
              </a:rPr>
              <a:t>• 引入敏捷迭代，将开发周期从 4 周缩短至 2 周。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4A4A6A"/>
                </a:solidFill>
                <a:latin typeface="Arial"/>
                <a:ea typeface="Noto Sans CJK SC"/>
              </a:rPr>
              <a:t>• 增加 1 名测试工程师，建立自动化测试流水线。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4A4A6A"/>
                </a:solidFill>
                <a:latin typeface="Arial"/>
                <a:ea typeface="Noto Sans CJK SC"/>
              </a:rPr>
              <a:t>• 成效：延期功能已进入测试阶段，预计 7 月中旬上线。</a:t>
            </a:r>
          </a:p>
        </p:txBody>
      </p:sp>
      <p:sp descr="时间线节点：扩充客服团队">
        <p:nvSpPr>
          <p:cNvPr id="22" name="Oval 21"/>
          <p:cNvSpPr/>
          <p:nvPr/>
        </p:nvSpPr>
        <p:spPr>
          <a:xfrm>
            <a:off x="9629393" y="1920240"/>
            <a:ext cx="329184" cy="329184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96705" y="169164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B5E20"/>
                </a:solidFill>
                <a:latin typeface="Arial"/>
                <a:ea typeface="Noto Sans CJK SC"/>
              </a:rPr>
              <a:t>举措三</a:t>
            </a:r>
          </a:p>
        </p:txBody>
      </p:sp>
      <p:sp descr="举措详情：扩充客服团队，状态：已完成">
        <p:nvSpPr>
          <p:cNvPr id="24" name="Rectangle 23"/>
          <p:cNvSpPr/>
          <p:nvPr/>
        </p:nvSpPr>
        <p:spPr>
          <a:xfrm>
            <a:off x="8082076" y="2514600"/>
            <a:ext cx="3423818" cy="2926080"/>
          </a:xfrm>
          <a:prstGeom prst="rect">
            <a:avLst/>
          </a:prstGeom>
          <a:solidFill>
            <a:srgbClr val="F0F2F5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82076" y="2514600"/>
            <a:ext cx="3423818" cy="7315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64956" y="2697480"/>
            <a:ext cx="305805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A1A2E"/>
                </a:solidFill>
                <a:latin typeface="Arial"/>
                <a:ea typeface="Noto Sans CJK SC"/>
              </a:rPr>
              <a:t>扩充客服团队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08615" y="269748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B5E20"/>
                </a:solidFill>
                <a:latin typeface="Arial"/>
                <a:ea typeface="Noto Sans CJK SC"/>
              </a:rPr>
              <a:t>已完成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4956" y="3108960"/>
            <a:ext cx="3058058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4A4A6A"/>
                </a:solidFill>
                <a:latin typeface="Arial"/>
                <a:ea typeface="Noto Sans CJK SC"/>
              </a:rPr>
              <a:t>• 招聘 2 名客服专员，已完成入职培训。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4A4A6A"/>
                </a:solidFill>
                <a:latin typeface="Arial"/>
                <a:ea typeface="Noto Sans CJK SC"/>
              </a:rPr>
              <a:t>• 上线 AI 智能问答助手，处理 40% 常见问题。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4A4A6A"/>
                </a:solidFill>
                <a:latin typeface="Arial"/>
                <a:ea typeface="Noto Sans CJK SC"/>
              </a:rPr>
              <a:t>• 成效：平均响应时间降至 4.5h，满意度回升至 4.4。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D47A1"/>
                </a:solidFill>
                <a:latin typeface="Arial"/>
                <a:ea typeface="Noto Sans CJK SC"/>
              </a:rPr>
              <a:t>05 · 规划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9441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A1A2E"/>
                </a:solidFill>
                <a:latin typeface="Arial"/>
                <a:ea typeface="Noto Sans CJK SC"/>
              </a:rPr>
              <a:t>下一季度计划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9050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4A4A6A"/>
                </a:solidFill>
                <a:latin typeface="Arial"/>
                <a:ea typeface="Noto Sans CJK SC"/>
              </a:rPr>
              <a:t>2026 Q2 季度复盘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4A4A6A"/>
                </a:solidFill>
                <a:latin typeface="Arial"/>
                <a:ea typeface="Noto Sans CJK SC"/>
              </a:rPr>
              <a:t>6 / 8</a:t>
            </a:r>
          </a:p>
        </p:txBody>
      </p:sp>
      <p:sp descr="下季方向：降本增效，目标：将获客成本降至 ¥42 以下">
        <p:nvSpPr>
          <p:cNvPr id="7" name="Rectangle 6"/>
          <p:cNvSpPr/>
          <p:nvPr/>
        </p:nvSpPr>
        <p:spPr>
          <a:xfrm>
            <a:off x="548640" y="1554480"/>
            <a:ext cx="3515258" cy="1371600"/>
          </a:xfrm>
          <a:prstGeom prst="rect">
            <a:avLst/>
          </a:prstGeom>
          <a:solidFill>
            <a:srgbClr val="F0F2F5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73152" cy="13716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64208"/>
            <a:ext cx="324093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A1A2E"/>
                </a:solidFill>
                <a:latin typeface="Arial"/>
                <a:ea typeface="Noto Sans CJK SC"/>
              </a:rPr>
              <a:t>降本增效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324093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B5E20"/>
                </a:solidFill>
                <a:latin typeface="Arial"/>
                <a:ea typeface="Noto Sans CJK SC"/>
              </a:rPr>
              <a:t>将获客成本降至 ¥42 以下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95728"/>
            <a:ext cx="324093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4A4A6A"/>
                </a:solidFill>
                <a:latin typeface="Arial"/>
                <a:ea typeface="Noto Sans CJK SC"/>
              </a:rPr>
              <a:t>优化渠道结构 · 提升自然流量占比至 35%</a:t>
            </a:r>
          </a:p>
        </p:txBody>
      </p:sp>
      <p:sp descr="下季方向：产品上线，目标：智能推荐 + 2 项新功能">
        <p:nvSpPr>
          <p:cNvPr id="12" name="Rectangle 11"/>
          <p:cNvSpPr/>
          <p:nvPr/>
        </p:nvSpPr>
        <p:spPr>
          <a:xfrm>
            <a:off x="4338218" y="1554480"/>
            <a:ext cx="3515258" cy="1371600"/>
          </a:xfrm>
          <a:prstGeom prst="rect">
            <a:avLst/>
          </a:prstGeom>
          <a:solidFill>
            <a:srgbClr val="F0F2F5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8218" y="1554480"/>
            <a:ext cx="73152" cy="13716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1098" y="1664208"/>
            <a:ext cx="324093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A1A2E"/>
                </a:solidFill>
                <a:latin typeface="Arial"/>
                <a:ea typeface="Noto Sans CJK SC"/>
              </a:rPr>
              <a:t>产品上线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1098" y="2011680"/>
            <a:ext cx="324093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D47A1"/>
                </a:solidFill>
                <a:latin typeface="Arial"/>
                <a:ea typeface="Noto Sans CJK SC"/>
              </a:rPr>
              <a:t>智能推荐 + 2 项新功能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1098" y="2395728"/>
            <a:ext cx="324093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4A4A6A"/>
                </a:solidFill>
                <a:latin typeface="Arial"/>
                <a:ea typeface="Noto Sans CJK SC"/>
              </a:rPr>
              <a:t>7月中旬推荐上线 · 8月语音交互 · 9月开放平台</a:t>
            </a:r>
          </a:p>
        </p:txBody>
      </p:sp>
      <p:sp descr="下季方向：用户留存，目标：次月留存率提升至 65%">
        <p:nvSpPr>
          <p:cNvPr id="17" name="Rectangle 16"/>
          <p:cNvSpPr/>
          <p:nvPr/>
        </p:nvSpPr>
        <p:spPr>
          <a:xfrm>
            <a:off x="8127796" y="1554480"/>
            <a:ext cx="3515258" cy="1371600"/>
          </a:xfrm>
          <a:prstGeom prst="rect">
            <a:avLst/>
          </a:prstGeom>
          <a:solidFill>
            <a:srgbClr val="F0F2F5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7796" y="1554480"/>
            <a:ext cx="73152" cy="1371600"/>
          </a:xfrm>
          <a:prstGeom prst="rect">
            <a:avLst/>
          </a:prstGeom>
          <a:solidFill>
            <a:srgbClr val="C4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0676" y="1664208"/>
            <a:ext cx="324093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A1A2E"/>
                </a:solidFill>
                <a:latin typeface="Arial"/>
                <a:ea typeface="Noto Sans CJK SC"/>
              </a:rPr>
              <a:t>用户留存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0676" y="2011680"/>
            <a:ext cx="324093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C44000"/>
                </a:solidFill>
                <a:latin typeface="Arial"/>
                <a:ea typeface="Noto Sans CJK SC"/>
              </a:rPr>
              <a:t>次月留存率提升至 65%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0676" y="2395728"/>
            <a:ext cx="324093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4A4A6A"/>
                </a:solidFill>
                <a:latin typeface="Arial"/>
                <a:ea typeface="Noto Sans CJK SC"/>
              </a:rPr>
              <a:t>上线用户成长体系 · 优化新手引导 · 个性化推送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200400"/>
            <a:ext cx="110944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A1A2E"/>
                </a:solidFill>
                <a:latin typeface="Arial"/>
                <a:ea typeface="Noto Sans CJK SC"/>
              </a:rPr>
              <a:t>关键里程碑（2026 Q3）</a:t>
            </a:r>
          </a:p>
        </p:txBody>
      </p:sp>
      <p:sp descr="月份：7月">
        <p:nvSpPr>
          <p:cNvPr id="23" name="Rectangle 22"/>
          <p:cNvSpPr/>
          <p:nvPr/>
        </p:nvSpPr>
        <p:spPr>
          <a:xfrm>
            <a:off x="548640" y="3520440"/>
            <a:ext cx="3652418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520440"/>
            <a:ext cx="365241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Noto Sans CJK SC"/>
              </a:rPr>
              <a:t>7月</a:t>
            </a:r>
          </a:p>
        </p:txBody>
      </p:sp>
      <p:sp descr="月份：8月">
        <p:nvSpPr>
          <p:cNvPr id="25" name="Rectangle 24"/>
          <p:cNvSpPr/>
          <p:nvPr/>
        </p:nvSpPr>
        <p:spPr>
          <a:xfrm>
            <a:off x="4246778" y="3520440"/>
            <a:ext cx="3652418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46778" y="3520440"/>
            <a:ext cx="365241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Noto Sans CJK SC"/>
              </a:rPr>
              <a:t>8月</a:t>
            </a:r>
          </a:p>
        </p:txBody>
      </p:sp>
      <p:sp descr="月份：9月">
        <p:nvSpPr>
          <p:cNvPr id="27" name="Rectangle 26"/>
          <p:cNvSpPr/>
          <p:nvPr/>
        </p:nvSpPr>
        <p:spPr>
          <a:xfrm>
            <a:off x="7944916" y="3520440"/>
            <a:ext cx="3652418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44916" y="3520440"/>
            <a:ext cx="365241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Noto Sans CJK SC"/>
              </a:rPr>
              <a:t>9月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886200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4A4A6A"/>
                </a:solidFill>
                <a:latin typeface="Arial"/>
                <a:ea typeface="Noto Sans CJK SC"/>
              </a:rPr>
              <a:t>智能推荐功能上线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0" y="3941064"/>
            <a:ext cx="8442655" cy="146304"/>
          </a:xfrm>
          <a:prstGeom prst="rect">
            <a:avLst/>
          </a:prstGeom>
          <a:solidFill>
            <a:srgbClr val="F0F2F5"/>
          </a:solidFill>
          <a:ln w="63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descr="里程碑：智能推荐功能上线，时间范围：7月至8月">
        <p:nvSpPr>
          <p:cNvPr id="31" name="Rectangle 30"/>
          <p:cNvSpPr/>
          <p:nvPr/>
        </p:nvSpPr>
        <p:spPr>
          <a:xfrm>
            <a:off x="3200400" y="3941064"/>
            <a:ext cx="2954929" cy="14630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215384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4A4A6A"/>
                </a:solidFill>
                <a:latin typeface="Arial"/>
                <a:ea typeface="Noto Sans CJK SC"/>
              </a:rPr>
              <a:t>渠道优化 · 获客成本达标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4270248"/>
            <a:ext cx="8442655" cy="146304"/>
          </a:xfrm>
          <a:prstGeom prst="rect">
            <a:avLst/>
          </a:prstGeom>
          <a:solidFill>
            <a:srgbClr val="F0F2F5"/>
          </a:solidFill>
          <a:ln w="63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descr="里程碑：渠道优化 · 获客成本达标，时间范围：7月至9月">
        <p:nvSpPr>
          <p:cNvPr id="34" name="Rectangle 33"/>
          <p:cNvSpPr/>
          <p:nvPr/>
        </p:nvSpPr>
        <p:spPr>
          <a:xfrm>
            <a:off x="4044665" y="4270248"/>
            <a:ext cx="6754124" cy="146304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544568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4A4A6A"/>
                </a:solidFill>
                <a:latin typeface="Arial"/>
                <a:ea typeface="Noto Sans CJK SC"/>
              </a:rPr>
              <a:t>语音交互功能上线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0" y="4599432"/>
            <a:ext cx="8442655" cy="146304"/>
          </a:xfrm>
          <a:prstGeom prst="rect">
            <a:avLst/>
          </a:prstGeom>
          <a:solidFill>
            <a:srgbClr val="F0F2F5"/>
          </a:solidFill>
          <a:ln w="63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descr="里程碑：语音交互功能上线，时间范围：8月至8月">
        <p:nvSpPr>
          <p:cNvPr id="37" name="Rectangle 36"/>
          <p:cNvSpPr/>
          <p:nvPr/>
        </p:nvSpPr>
        <p:spPr>
          <a:xfrm>
            <a:off x="6155329" y="4599432"/>
            <a:ext cx="2532796" cy="14630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873752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4A4A6A"/>
                </a:solidFill>
                <a:latin typeface="Arial"/>
                <a:ea typeface="Noto Sans CJK SC"/>
              </a:rPr>
              <a:t>用户成长体系上线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0" y="4928616"/>
            <a:ext cx="8442655" cy="146304"/>
          </a:xfrm>
          <a:prstGeom prst="rect">
            <a:avLst/>
          </a:prstGeom>
          <a:solidFill>
            <a:srgbClr val="F0F2F5"/>
          </a:solidFill>
          <a:ln w="63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descr="里程碑：用户成长体系上线，时间范围：8月至9月">
        <p:nvSpPr>
          <p:cNvPr id="40" name="Rectangle 39"/>
          <p:cNvSpPr/>
          <p:nvPr/>
        </p:nvSpPr>
        <p:spPr>
          <a:xfrm>
            <a:off x="7421727" y="4928616"/>
            <a:ext cx="2954929" cy="146304"/>
          </a:xfrm>
          <a:prstGeom prst="rect">
            <a:avLst/>
          </a:prstGeom>
          <a:solidFill>
            <a:srgbClr val="C4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5202936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4A4A6A"/>
                </a:solidFill>
                <a:latin typeface="Arial"/>
                <a:ea typeface="Noto Sans CJK SC"/>
              </a:rPr>
              <a:t>开放平台 API 发布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0" y="5257800"/>
            <a:ext cx="8442655" cy="146304"/>
          </a:xfrm>
          <a:prstGeom prst="rect">
            <a:avLst/>
          </a:prstGeom>
          <a:solidFill>
            <a:srgbClr val="F0F2F5"/>
          </a:solidFill>
          <a:ln w="63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descr="里程碑：开放平台 API 发布，时间范围：9月至9月">
        <p:nvSpPr>
          <p:cNvPr id="43" name="Rectangle 42"/>
          <p:cNvSpPr/>
          <p:nvPr/>
        </p:nvSpPr>
        <p:spPr>
          <a:xfrm>
            <a:off x="9110258" y="5257800"/>
            <a:ext cx="2363943" cy="14630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D47A1"/>
                </a:solidFill>
                <a:latin typeface="Arial"/>
                <a:ea typeface="Noto Sans CJK SC"/>
              </a:rPr>
              <a:t>06 · 风险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9441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A1A2E"/>
                </a:solidFill>
                <a:latin typeface="Arial"/>
                <a:ea typeface="Noto Sans CJK SC"/>
              </a:rPr>
              <a:t>风险与资源需求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9050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4A4A6A"/>
                </a:solidFill>
                <a:latin typeface="Arial"/>
                <a:ea typeface="Noto Sans CJK SC"/>
              </a:rPr>
              <a:t>2026 Q2 季度复盘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4A4A6A"/>
                </a:solidFill>
                <a:latin typeface="Arial"/>
                <a:ea typeface="Noto Sans CJK SC"/>
              </a:rPr>
              <a:t>7 / 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0058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286000"/>
                <a:gridCol w="1097280"/>
                <a:gridCol w="1097280"/>
                <a:gridCol w="5029200"/>
              </a:tblGrid>
              <a:tr h="6400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Noto Sans CJK SC"/>
                        </a:rPr>
                        <a:t>#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Noto Sans CJK SC"/>
                        </a:rPr>
                        <a:t>风险描述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Noto Sans CJK SC"/>
                        </a:rPr>
                        <a:t>可能性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Noto Sans CJK SC"/>
                        </a:rPr>
                        <a:t>影响度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Noto Sans CJK SC"/>
                        </a:rPr>
                        <a:t>应对策略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2E"/>
                          </a:solidFill>
                          <a:latin typeface="Arial"/>
                          <a:ea typeface="Noto Sans CJK SC"/>
                        </a:rPr>
                        <a:t>R1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Arial"/>
                          <a:ea typeface="Noto Sans CJK SC"/>
                        </a:rPr>
                        <a:t>竞品推出类似功能，市场竞争加剧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C44000"/>
                          </a:solidFill>
                          <a:latin typeface="Arial"/>
                          <a:ea typeface="Noto Sans CJK SC"/>
                        </a:rPr>
                        <a:t>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C44000"/>
                          </a:solidFill>
                          <a:latin typeface="Arial"/>
                          <a:ea typeface="Noto Sans CJK SC"/>
                        </a:rPr>
                        <a:t>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Arial"/>
                          <a:ea typeface="Noto Sans CJK SC"/>
                        </a:rPr>
                        <a:t>加快产品迭代速度，强化差异化功能；提前布局专利；建立竞品监控机制。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2E"/>
                          </a:solidFill>
                          <a:latin typeface="Arial"/>
                          <a:ea typeface="Noto Sans CJK SC"/>
                        </a:rPr>
                        <a:t>R2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Arial"/>
                          <a:ea typeface="Noto Sans CJK SC"/>
                        </a:rPr>
                        <a:t>核心技术人才流失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D47A1"/>
                          </a:solidFill>
                          <a:latin typeface="Arial"/>
                          <a:ea typeface="Noto Sans CJK SC"/>
                        </a:rPr>
                        <a:t>中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D47A1"/>
                          </a:solidFill>
                          <a:latin typeface="Arial"/>
                          <a:ea typeface="Noto Sans CJK SC"/>
                        </a:rPr>
                        <a:t>高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Arial"/>
                          <a:ea typeface="Noto Sans CJK SC"/>
                        </a:rPr>
                        <a:t>优化薪酬激励体系；建立技术职级通道；加强团队建设与知识沉淀。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2E"/>
                          </a:solidFill>
                          <a:latin typeface="Arial"/>
                          <a:ea typeface="Noto Sans CJK SC"/>
                        </a:rPr>
                        <a:t>R3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Arial"/>
                          <a:ea typeface="Noto Sans CJK SC"/>
                        </a:rPr>
                        <a:t>数据安全与隐私政策变化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46E7A"/>
                          </a:solidFill>
                          <a:latin typeface="Arial"/>
                          <a:ea typeface="Noto Sans CJK SC"/>
                        </a:rPr>
                        <a:t>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46E7A"/>
                          </a:solidFill>
                          <a:latin typeface="Arial"/>
                          <a:ea typeface="Noto Sans CJK SC"/>
                        </a:rPr>
                        <a:t>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Arial"/>
                          <a:ea typeface="Noto Sans CJK SC"/>
                        </a:rPr>
                        <a:t>设立合规专员；定期审计数据处理流程；提前适配新法规要求。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29768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1A1A2E"/>
                </a:solidFill>
                <a:latin typeface="Arial"/>
                <a:ea typeface="Noto Sans CJK SC"/>
              </a:rPr>
              <a:t>资源需求</a:t>
            </a:r>
          </a:p>
        </p:txBody>
      </p:sp>
      <p:sp descr="资源需求：人力，新增 2 名研发工程师 + 1 名数据分析师">
        <p:nvSpPr>
          <p:cNvPr id="9" name="Rectangle 8"/>
          <p:cNvSpPr/>
          <p:nvPr/>
        </p:nvSpPr>
        <p:spPr>
          <a:xfrm>
            <a:off x="548640" y="4663440"/>
            <a:ext cx="3515258" cy="1005840"/>
          </a:xfrm>
          <a:prstGeom prst="rect">
            <a:avLst/>
          </a:prstGeom>
          <a:solidFill>
            <a:srgbClr val="F0F2F5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4663440"/>
            <a:ext cx="731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800600"/>
            <a:ext cx="324093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0D47A1"/>
                </a:solidFill>
                <a:latin typeface="Arial"/>
                <a:ea typeface="Noto Sans CJK SC"/>
              </a:rPr>
              <a:t>人力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20640"/>
            <a:ext cx="324093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1A1A2E"/>
                </a:solidFill>
                <a:latin typeface="Arial"/>
                <a:ea typeface="Noto Sans CJK SC"/>
              </a:rPr>
              <a:t>新增 2 名研发工程师 + 1 名数据分析师</a:t>
            </a:r>
          </a:p>
        </p:txBody>
      </p:sp>
      <p:sp descr="资源需求：预算，营销预算增加 15%，用于新渠道测试">
        <p:nvSpPr>
          <p:cNvPr id="13" name="Rectangle 12"/>
          <p:cNvSpPr/>
          <p:nvPr/>
        </p:nvSpPr>
        <p:spPr>
          <a:xfrm>
            <a:off x="4338218" y="4663440"/>
            <a:ext cx="3515258" cy="1005840"/>
          </a:xfrm>
          <a:prstGeom prst="rect">
            <a:avLst/>
          </a:prstGeom>
          <a:solidFill>
            <a:srgbClr val="F0F2F5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8218" y="4663440"/>
            <a:ext cx="731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1098" y="4800600"/>
            <a:ext cx="324093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B5E20"/>
                </a:solidFill>
                <a:latin typeface="Arial"/>
                <a:ea typeface="Noto Sans CJK SC"/>
              </a:rPr>
              <a:t>预算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1098" y="5120640"/>
            <a:ext cx="324093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1A1A2E"/>
                </a:solidFill>
                <a:latin typeface="Arial"/>
                <a:ea typeface="Noto Sans CJK SC"/>
              </a:rPr>
              <a:t>营销预算增加 15%，用于新渠道测试</a:t>
            </a:r>
          </a:p>
        </p:txBody>
      </p:sp>
      <p:sp descr="资源需求：工具，采购用户行为分析平台（年费约 ¥20 万）">
        <p:nvSpPr>
          <p:cNvPr id="17" name="Rectangle 16"/>
          <p:cNvSpPr/>
          <p:nvPr/>
        </p:nvSpPr>
        <p:spPr>
          <a:xfrm>
            <a:off x="8127796" y="4663440"/>
            <a:ext cx="3515258" cy="1005840"/>
          </a:xfrm>
          <a:prstGeom prst="rect">
            <a:avLst/>
          </a:prstGeom>
          <a:solidFill>
            <a:srgbClr val="F0F2F5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7796" y="4663440"/>
            <a:ext cx="73152" cy="1005840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0676" y="4800600"/>
            <a:ext cx="324093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546E7A"/>
                </a:solidFill>
                <a:latin typeface="Arial"/>
                <a:ea typeface="Noto Sans CJK SC"/>
              </a:rPr>
              <a:t>工具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0676" y="5120640"/>
            <a:ext cx="324093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1A1A2E"/>
                </a:solidFill>
                <a:latin typeface="Arial"/>
                <a:ea typeface="Noto Sans CJK SC"/>
              </a:rPr>
              <a:t>采购用户行为分析平台（年费约 ¥20 万）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rial"/>
                <a:ea typeface="Noto Sans CJK SC"/>
              </a:rPr>
              <a:t>总结与下一步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2743200" cy="254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descr="结论：整体表现">
        <p:nvSpPr>
          <p:cNvPr id="5" name="Rectangle 4"/>
          <p:cNvSpPr/>
          <p:nvPr/>
        </p:nvSpPr>
        <p:spPr>
          <a:xfrm>
            <a:off x="731520" y="1463040"/>
            <a:ext cx="3393338" cy="2560320"/>
          </a:xfrm>
          <a:prstGeom prst="rect">
            <a:avLst/>
          </a:prstGeom>
          <a:solidFill>
            <a:srgbClr val="262640"/>
          </a:solidFill>
          <a:ln w="9525">
            <a:solidFill>
              <a:srgbClr val="3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393338" cy="7315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293613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  <a:ea typeface="Noto Sans CJK SC"/>
              </a:rPr>
              <a:t>整体表现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2936138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C0CAD0"/>
                </a:solidFill>
                <a:latin typeface="Arial"/>
                <a:ea typeface="Noto Sans CJK SC"/>
              </a:rPr>
              <a:t>营收同比 +28.3%，超额完成目标；MAU 1,150 万，接近目标；整体目标完成率约 92%。</a:t>
            </a:r>
          </a:p>
        </p:txBody>
      </p:sp>
      <p:sp descr="结论：核心问题">
        <p:nvSpPr>
          <p:cNvPr id="9" name="Rectangle 8"/>
          <p:cNvSpPr/>
          <p:nvPr/>
        </p:nvSpPr>
        <p:spPr>
          <a:xfrm>
            <a:off x="4399178" y="1463040"/>
            <a:ext cx="3393338" cy="2560320"/>
          </a:xfrm>
          <a:prstGeom prst="rect">
            <a:avLst/>
          </a:prstGeom>
          <a:solidFill>
            <a:srgbClr val="262640"/>
          </a:solidFill>
          <a:ln w="9525">
            <a:solidFill>
              <a:srgbClr val="3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99178" y="1463040"/>
            <a:ext cx="3393338" cy="73152"/>
          </a:xfrm>
          <a:prstGeom prst="rect">
            <a:avLst/>
          </a:prstGeom>
          <a:solidFill>
            <a:srgbClr val="C4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7778" y="1645920"/>
            <a:ext cx="293613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  <a:ea typeface="Noto Sans CJK SC"/>
              </a:rPr>
              <a:t>核心问题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2103120"/>
            <a:ext cx="2936138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C0CAD0"/>
                </a:solidFill>
                <a:latin typeface="Arial"/>
                <a:ea typeface="Noto Sans CJK SC"/>
              </a:rPr>
              <a:t>获客成本上升 12% 是最大挑战；产品迭代延期影响运营节奏；客服响应速度需持续改善。</a:t>
            </a:r>
          </a:p>
        </p:txBody>
      </p:sp>
      <p:sp descr="结论：下季重点">
        <p:nvSpPr>
          <p:cNvPr id="13" name="Rectangle 12"/>
          <p:cNvSpPr/>
          <p:nvPr/>
        </p:nvSpPr>
        <p:spPr>
          <a:xfrm>
            <a:off x="8066836" y="1463040"/>
            <a:ext cx="3393338" cy="2560320"/>
          </a:xfrm>
          <a:prstGeom prst="rect">
            <a:avLst/>
          </a:prstGeom>
          <a:solidFill>
            <a:srgbClr val="262640"/>
          </a:solidFill>
          <a:ln w="9525">
            <a:solidFill>
              <a:srgbClr val="3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6836" y="1463040"/>
            <a:ext cx="3393338" cy="7315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5436" y="1645920"/>
            <a:ext cx="293613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  <a:ea typeface="Noto Sans CJK SC"/>
              </a:rPr>
              <a:t>下季重点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5436" y="2103120"/>
            <a:ext cx="2936138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C0CAD0"/>
                </a:solidFill>
                <a:latin typeface="Arial"/>
                <a:ea typeface="Noto Sans CJK SC"/>
              </a:rPr>
              <a:t>降本增效（获客成本 ≤¥42）· 产品交付（3 项功能上线）· 用户留存（次月留存 ≥65%）。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976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  <a:ea typeface="Noto Sans CJK SC"/>
              </a:rPr>
              <a:t>立即行动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091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B0BEC5"/>
                </a:solidFill>
                <a:latin typeface="Arial"/>
                <a:ea typeface="Noto Sans CJK SC"/>
              </a:rPr>
              <a:t>1. 本周内完成渠道预算重新分配，暂停 ROI 最低的 2 个投放渠道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B0BEC5"/>
                </a:solidFill>
                <a:latin typeface="Arial"/>
                <a:ea typeface="Noto Sans CJK SC"/>
              </a:rPr>
              <a:t>2. 7 月中旬前完成智能推荐功能上线与全量灰度发布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B0BEC5"/>
                </a:solidFill>
                <a:latin typeface="Arial"/>
                <a:ea typeface="Noto Sans CJK SC"/>
              </a:rPr>
              <a:t>3. 下月启动用户成长体系需求评审与原型设计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90A4AE"/>
                </a:solidFill>
                <a:latin typeface="Arial"/>
                <a:ea typeface="Noto Sans CJK SC"/>
              </a:rPr>
              <a:t>感谢聆听 · 欢迎讨论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